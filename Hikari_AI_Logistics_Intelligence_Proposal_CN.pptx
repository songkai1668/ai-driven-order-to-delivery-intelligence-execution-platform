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75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AI驱动的订单到交付智能执行平台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0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从碎片化物流文档与流程数据，走向可解释、可执行、可持续扩展的智能运营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063240" cy="329184"/>
          </a:xfrm>
          <a:prstGeom prst="roundRect">
            <a:avLst>
              <a:gd name="adj" fmla="val 22222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310128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方案草案｜仅聚焦功能与业务价值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8912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4846320"/>
            <a:ext cx="731520" cy="0"/>
          </a:xfrm>
          <a:prstGeom prst="line">
            <a:avLst/>
          </a:prstGeom>
          <a:noFill/>
          <a:ln w="15240">
            <a:solidFill>
              <a:srgbClr val="AAB4C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4572000"/>
            <a:ext cx="731520" cy="73152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AI智能体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55480" y="4572000"/>
            <a:ext cx="731520" cy="73152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2636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C8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Based on Hikari Dev Phase 1 Requirement •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我们对需求的理解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1不只是数据采集，而是未来AI物流智能的基础工程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4475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现有业务流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746504"/>
            <a:ext cx="1819656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JOEM订单 → SAP订单 → 海外工厂发货 → 海/空运 → 日本仓库收货 → 客户交付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144475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1范围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5264" y="1746504"/>
            <a:ext cx="1819656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非SAP数据采集、RPA/应用自动化、数据可视化与预警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41264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05856" y="144475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未来方向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05856" y="1746504"/>
            <a:ext cx="1819656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后续阶段将定义Agentic AI与更多应用场景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91856" y="132588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44475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我们的提升方向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1746504"/>
            <a:ext cx="1819656" cy="3008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提前设计AI-ready基础：文档智能、物流数字孪生、异常智能、Planner Copilot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5321808"/>
            <a:ext cx="9784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核心判断：如果Phase 1只做OCR、RPA和图表，价值有限；如果把业务关系、证据链和行动逻辑一起建好，后续AI才真正可用。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方案定位：不是另一个Dashboard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从“看见数据”升级到“理解风险、建议行动、支持执行”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572000" cy="4206240"/>
          </a:xfrm>
          <a:prstGeom prst="roundRect">
            <a:avLst>
              <a:gd name="adj" fmla="val 2174"/>
            </a:avLst>
          </a:prstGeom>
          <a:solidFill>
            <a:srgbClr val="F7F7F7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普通做法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0428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353312" y="2276856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OCR提取字段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80720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353312" y="2779776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把结果存入数据库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31012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353312" y="3282696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制作运输可视化Dashboard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81304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353312" y="3785616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规则式红黄绿预警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320040" cy="320040"/>
          </a:xfrm>
          <a:prstGeom prst="ellipse">
            <a:avLst/>
          </a:prstGeom>
          <a:solidFill>
            <a:srgbClr val="5F6368">
              <a:alpha val="92000"/>
            </a:srgbClr>
          </a:solidFill>
          <a:ln w="12700">
            <a:solidFill>
              <a:srgbClr val="5F636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31596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–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353312" y="4288536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RPA更新SAP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CE7E7"/>
          </a:solidFill>
          <a:ln w="12700">
            <a:solidFill>
              <a:srgbClr val="F2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更强提案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766560" y="224028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230428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205472" y="227685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物流文档智能引擎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274320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280720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205472" y="277977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订单-运输-仓库-客户数字孪生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24612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331012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205472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异常优先级与业务影响分析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374904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81304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7205472" y="378561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AI解释原因并建议行动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66560" y="425196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431596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205472" y="4288536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Planner批准后自动执行ASN/GR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40680" y="3447288"/>
            <a:ext cx="822960" cy="0"/>
          </a:xfrm>
          <a:prstGeom prst="line">
            <a:avLst/>
          </a:prstGeom>
          <a:noFill/>
          <a:ln w="3048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429000" y="5897880"/>
            <a:ext cx="5212080" cy="36576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5961888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核心价值：行动系统，而非报表系统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目标运营概念：Order-to-Delivery Intelligence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把订单、物流文档、ETA、库存、仓库和执行动作连接成一条可解释的业务链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4924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9516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287000" y="2468880"/>
            <a:ext cx="155448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EAF2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客户订单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SAP订单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海外工厂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海/空运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2376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日本通关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6968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454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仓库收货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0" y="2103120"/>
            <a:ext cx="1417320" cy="758952"/>
          </a:xfrm>
          <a:prstGeom prst="roundRect">
            <a:avLst>
              <a:gd name="adj" fmla="val 9639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70464" y="2313432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客户交付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27939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文档证据链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581144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发票、运单、跟踪清单、报关单、卡车/仓库单据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61188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27939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业务上下文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4581144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客户/部品/订单/运输/库存关系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40080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27939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异常智能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65392" y="4581144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延误、缺单、数量不符、库存覆盖风险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189720" y="4160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54312" y="427939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54312" y="4581144"/>
            <a:ext cx="204825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ASN更新、GR过账、客户订单获取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86868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设计原则：每个AI结论都必须能追溯到数据、文档与业务关系。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整体解决方案蓝图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五层智能架构：采集、理解、连接、判断、行动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3520440"/>
            <a:ext cx="24688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3520440"/>
            <a:ext cx="29260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3520440"/>
            <a:ext cx="24688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03920" y="3520440"/>
            <a:ext cx="292608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417320"/>
            <a:ext cx="1645920" cy="4297680"/>
          </a:xfrm>
          <a:prstGeom prst="roundRect">
            <a:avLst>
              <a:gd name="adj" fmla="val 5556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5361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数据入口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8952" y="1837944"/>
            <a:ext cx="1316736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Excel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客户网站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Forwarder Portal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SAP同步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1417320"/>
            <a:ext cx="1737360" cy="4297680"/>
          </a:xfrm>
          <a:prstGeom prst="roundRect">
            <a:avLst>
              <a:gd name="adj" fmla="val 5263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5361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文档智能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1837944"/>
            <a:ext cx="1408176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字段/表格抽取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置信度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重复检查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783080" cy="4297680"/>
          </a:xfrm>
          <a:prstGeom prst="roundRect">
            <a:avLst>
              <a:gd name="adj" fmla="val 5128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53619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上下文层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837944"/>
            <a:ext cx="1453896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订单-运输-仓库数字孪生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Playbook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737360" cy="4297680"/>
          </a:xfrm>
          <a:prstGeom prst="roundRect">
            <a:avLst>
              <a:gd name="adj" fmla="val 5263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53619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AI智能体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31152" y="1837944"/>
            <a:ext cx="1408176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ETA风险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订单波动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ASN/GR准备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沟通草稿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69680" y="1417320"/>
            <a:ext cx="2240280" cy="4297680"/>
          </a:xfrm>
          <a:prstGeom prst="roundRect">
            <a:avLst>
              <a:gd name="adj" fmla="val 408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1536192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工作台与执行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34272" y="1837944"/>
            <a:ext cx="1911096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今日行动队列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Shipment 360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人工批准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RPA/Webservice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234440" y="5989320"/>
            <a:ext cx="9692640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6053328"/>
            <a:ext cx="9546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结果：可信数据 + 业务上下文 + 风险解释 + 推荐行动 + 可控自动化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端到端流程流转图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从客户订单到客户交付，每个节点都产生数据、文档、事件和风险信号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0927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72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业务流程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10927080" cy="95097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15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数据/文档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109270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智能处理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10927080" cy="95097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01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执行结果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JOEM订单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9184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SAP订单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772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发货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26948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通关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59536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6112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9769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921240" y="1664208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287000" y="1463040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EAF2FF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23576" y="1581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6829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Invoice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65760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417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AWB / B/L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98348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Tracking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Customs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63524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7181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Truck Doc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896112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9769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 Doc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0287000" y="260604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23576" y="2724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Delivery Doc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233172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6829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抽取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65760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9417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匹配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98348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005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30936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风险评分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763524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181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影响分析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96112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9769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Copilot建议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10287000" y="3749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F3EFFF"/>
          </a:solidFill>
          <a:ln w="12700">
            <a:solidFill>
              <a:srgbClr val="D9CC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23576" y="3867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批准执行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233172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6829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结构化数据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65760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9417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8348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005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异常Case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30936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行动队列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63524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7181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96112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9769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0287000" y="4892040"/>
            <a:ext cx="960120" cy="384048"/>
          </a:xfrm>
          <a:prstGeom prst="roundRect">
            <a:avLst>
              <a:gd name="adj" fmla="val 9524"/>
            </a:avLst>
          </a:prstGeom>
          <a:solidFill>
            <a:srgbClr val="EAF7EF"/>
          </a:solidFill>
          <a:ln w="12700">
            <a:solidFill>
              <a:srgbClr val="BDE5C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23576" y="5010912"/>
            <a:ext cx="886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60120" y="5897880"/>
            <a:ext cx="10149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关键点：流程不是静态图，而是持续产生事件、证据、风险与任务的运营流。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企业级技术架构图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遵循既定技术方向，同时加入AI-ready上下文与智能体层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1627632"/>
            <a:ext cx="731520" cy="7040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2020824"/>
            <a:ext cx="731520" cy="3108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2414016"/>
            <a:ext cx="731520" cy="-82296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57400" y="2807208"/>
            <a:ext cx="731520" cy="-4754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3200400"/>
            <a:ext cx="731520" cy="-86868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2331720"/>
            <a:ext cx="777240" cy="0"/>
          </a:xfrm>
          <a:prstGeom prst="line">
            <a:avLst/>
          </a:prstGeom>
          <a:noFill/>
          <a:ln w="1524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95560" y="3063240"/>
            <a:ext cx="0" cy="85039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18320" y="4315968"/>
            <a:ext cx="-1280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1261872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138074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" y="1682496"/>
            <a:ext cx="1225296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Email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/ Excel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SharePoint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Cargonavi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 / Portal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788920" y="141732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1536192"/>
            <a:ext cx="905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n8n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53512" y="1837944"/>
            <a:ext cx="90525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工作流编排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触发/路由/重试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0600" y="132588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44752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文档AI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65192" y="1746504"/>
            <a:ext cx="108813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字段/表格抽取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置信度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人工复核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995160" y="1325880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1444752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Doris数据层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9752" y="1746504"/>
            <a:ext cx="1088136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结构化数据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事件明细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分析模型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9189720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121615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ContextForge / 业务上下文层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354312" y="1517904"/>
            <a:ext cx="1591056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订单-运输-仓库关系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Playbook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823960" y="3950208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88552" y="406908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AI智能体层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88552" y="4370832"/>
            <a:ext cx="241401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文档｜对账｜ETA｜库存｜订单波动｜ASN/GR｜沟通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5440680" y="388620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4005072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 Workbench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05272" y="4306824"/>
            <a:ext cx="23682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行动队列｜Shipment 360｜文档Review｜批准执行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514600" y="38862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F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400507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执行接口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79192" y="4306824"/>
            <a:ext cx="17739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 / Webservice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 ASN更新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 GR过账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文档智能：从附件到可信数据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把非结构化PDF/Excel/邮件转化为可追溯、可复核、可用于自动化的数据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035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104120" y="2057400"/>
            <a:ext cx="13716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监控邮件/入口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2860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文档分类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8862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字段与表格抽取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4864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置信度评分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0866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人工复核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6868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标准化/去重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0287000" y="173736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51008" y="19385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入库/归档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31520" y="2971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支持文档类型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5204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SAP发票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6616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5204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AWB / B/L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5204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Tracking List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61120" y="3429000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52044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进口报关单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868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08736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卡车单据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08736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仓库收货单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63640" y="3995928"/>
            <a:ext cx="2148840" cy="329184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08736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仓库发货单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909560" y="4800600"/>
            <a:ext cx="3337560" cy="777240"/>
          </a:xfrm>
          <a:prstGeom prst="roundRect">
            <a:avLst>
              <a:gd name="adj" fmla="val 11765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74152" y="491947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关键增强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74152" y="5221224"/>
            <a:ext cx="30083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字段可追溯到来源文档、页面、置信度与修正记录。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物流数字孪生 / 业务上下文模型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AI要可靠，必须先知道订单、部品、运输、仓库和文档之间的关系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91640" y="1764792"/>
            <a:ext cx="164592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764792"/>
            <a:ext cx="169164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1764792"/>
            <a:ext cx="1600200" cy="11612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1764792"/>
            <a:ext cx="182880" cy="265176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2926080"/>
            <a:ext cx="1325880" cy="149047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2926080"/>
            <a:ext cx="2880360" cy="-1828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2926080"/>
            <a:ext cx="2697480" cy="-143560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2926080"/>
            <a:ext cx="2743200" cy="2249424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4416552"/>
            <a:ext cx="1417320" cy="75895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4416552"/>
            <a:ext cx="4160520" cy="75895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169164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5176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69164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客户订单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43400" y="1508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69164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SAP订单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0" y="2670048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E60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85292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运输/Shipment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416052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34340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部品/物料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69480" y="416052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434340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仓库库存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23960" y="265176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283464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Forwarder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641080" y="1234440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5F63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4232" y="141732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文档证据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0" y="4919472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E600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9952" y="510235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异常Case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1520" y="50749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1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9379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为什么重要？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6112" y="5495544"/>
            <a:ext cx="332841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用户真正问的是：哪个客户会受影响？缺哪份单？能不能做ASN/GR？风险原因是什么？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AI智能体设计：实用型而非科幻型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每个智能体都有明确输入、判断逻辑、输出和人工控制点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884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1709928"/>
            <a:ext cx="640080" cy="0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744200" y="1709928"/>
            <a:ext cx="-8092440" cy="2679192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03520" y="2176272"/>
            <a:ext cx="-1600200" cy="170992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2176272"/>
            <a:ext cx="640080" cy="1709928"/>
          </a:xfrm>
          <a:prstGeom prst="line">
            <a:avLst/>
          </a:prstGeom>
          <a:noFill/>
          <a:ln w="1016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4173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文档摄取Agent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" y="171907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分类、抽取、打分、路由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288036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14173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对账Agent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44952" y="171907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跨文档数量/日期/参考号匹配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502920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4173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ETA风险Agent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93792" y="171907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预测延误与客户影响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717804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14173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库存覆盖Agent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42632" y="171907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连接ETA、库存与订单需求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326880" y="1298448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91472" y="141732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订单波动Agent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91472" y="1719072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客户/PN/版本异常变化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2743200" y="39776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409651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ASN/GR执行Agent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07792" y="4398264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判断准备度并准备执行包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537960" y="397764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EF2F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4096512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沟通Agent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02552" y="4398264"/>
            <a:ext cx="154533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生成Forwarder/仓库/客户邮件草稿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154680" y="5715000"/>
            <a:ext cx="5852160" cy="347472"/>
          </a:xfrm>
          <a:prstGeom prst="roundRect">
            <a:avLst>
              <a:gd name="adj" fmla="val 21053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27832" y="5779008"/>
            <a:ext cx="570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所有自动化动作必须经过准备度检查与人工批准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异常与风险智能引擎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将“告警”升级为“业务影响排序 + 原因解释 + 推荐行动”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10332720" cy="685800"/>
          </a:xfrm>
          <a:prstGeom prst="roundRect">
            <a:avLst>
              <a:gd name="adj" fmla="val 13333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44475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核心评分逻辑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" y="1746504"/>
            <a:ext cx="10003536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风险严重度 = ETA延误 + 库存覆盖 + 文档完整性 + 数量匹配 + 客户优先级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33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运输延误风险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987552" y="2935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ETA变更、里程碑异常、历史延误模式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457200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633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缺失文档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4736592" y="2935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应到未到：发票、运单、报关、仓库单据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321040" y="2514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633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数量/字段不匹配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485632" y="2935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SAP订单、发票、运输、仓库收货不一致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76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ASN/GR阻塞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987552" y="4078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关键字段或证据不完整，不能安全执行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776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客户订单波动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4736592" y="4078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客户/PN/版本订单量异常上升或下降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321040" y="365760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85632" y="377647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库存覆盖风险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485632" y="4078224"/>
            <a:ext cx="291693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延误后库存天数不足，影响客户交付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 Workbench：每日行动中心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用户打开系统首先看到“今天需要处理什么”，而不是一堆图表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698480" cy="4983480"/>
          </a:xfrm>
          <a:prstGeom prst="roundRect">
            <a:avLst>
              <a:gd name="adj" fmla="val 1468"/>
            </a:avLst>
          </a:prstGeom>
          <a:solidFill>
            <a:srgbClr val="FAFB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Today’s Logistics Action Center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66760" y="144475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150876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高风险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509760" y="1444752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82912" y="150876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待批准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优先级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011680" y="20116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657600" y="2011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原因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AI建议行动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418320" y="201168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14400" y="22402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3774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2011680" y="23774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运输延误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3657600" y="237744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 +3天，库存仅4天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6126480" y="2377440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联系Forwarder，检查部分出货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9418320" y="23774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914400" y="29260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0632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011680" y="30632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GR阻塞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3657600" y="306324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仓库收货单缺失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6126480" y="3063240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请求仓库补单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9418320" y="30632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分派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914400" y="36118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490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2011680" y="37490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ASN待处理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3657600" y="374904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ETA冲突，需确认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6126480" y="3749040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复核后批准ASN更新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9418320" y="37490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14400" y="4297680"/>
            <a:ext cx="982980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43484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2011680" y="44348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订单波动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3657600" y="443484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客户A PN-200 +38%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6126480" y="4434840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检查库存与下批到货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9418320" y="443484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100584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0432" y="53766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Shipment 360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" y="5678424"/>
            <a:ext cx="259689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订单、文件、ETA、库存、风险证据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425196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53766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文档Review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16552" y="5678424"/>
            <a:ext cx="259689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低置信度字段人工确认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7498080" y="5257800"/>
            <a:ext cx="2926080" cy="594360"/>
          </a:xfrm>
          <a:prstGeom prst="roundRect">
            <a:avLst>
              <a:gd name="adj" fmla="val 15385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62672" y="53766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批准执行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62672" y="5678424"/>
            <a:ext cx="2596896" cy="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 / GR / 通知动作由Planner控制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重点用例1：非SAP文档智能采集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覆盖需求中的发票、运单、跟踪清单、报关单、卡车与仓库单据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667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66960" y="1828800"/>
            <a:ext cx="31089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Email/Portal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3317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PDF/Excel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分类与抽取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5321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人工复核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323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SharePoint归档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7325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Doris入库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332720" y="150876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78440" y="17190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异常/任务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91440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090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392424"/>
            <a:ext cx="27797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把碎片化邮件附件变成统一、干净、可追溯的数据资产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090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质量控制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392424"/>
            <a:ext cx="27797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字段置信度、人工复核、重复检测、跨文档匹配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412480" y="2971800"/>
            <a:ext cx="3108960" cy="1325880"/>
          </a:xfrm>
          <a:prstGeom prst="roundRect">
            <a:avLst>
              <a:gd name="adj" fmla="val 6897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77072" y="3090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业务价值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77072" y="3392424"/>
            <a:ext cx="27797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减少人工录入、减少漏单/错单、为后续预警和自动化提供可信数据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2011680" y="5349240"/>
            <a:ext cx="813816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84832" y="5413248"/>
            <a:ext cx="7991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设计重点：可复核、可追溯、可学习，而不是一次性OCR脚本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重点用例2：ETA、库存与客户影响预警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不要只报“运输延误”，要说明它会影响哪个客户、哪个部品、哪张订单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ETA变化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2505456" y="1536192"/>
            <a:ext cx="1645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56362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运输里程碑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608576" y="1536192"/>
            <a:ext cx="1645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6362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通关状态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4086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505456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34086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客户需求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608576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194560"/>
            <a:ext cx="1691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4086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客户优先级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629400" y="1828800"/>
            <a:ext cx="960120" cy="0"/>
          </a:xfrm>
          <a:prstGeom prst="line">
            <a:avLst/>
          </a:prstGeom>
          <a:noFill/>
          <a:ln w="19050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3611880" cy="1188720"/>
          </a:xfrm>
          <a:prstGeom prst="roundRect">
            <a:avLst>
              <a:gd name="adj" fmla="val 769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9832" y="1490472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AI风险评分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9832" y="1792224"/>
            <a:ext cx="32826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输出风险等级、原因解释、客户影响和建议行动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2960" y="3337560"/>
            <a:ext cx="4983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3456432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示例输出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758184"/>
            <a:ext cx="465429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Shipment HIK-SEA-001 高风险：ETA延迟3天，报关单未收到，PN-A123库存覆盖仅4天，可能影响客户A下周交付。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63640" y="333756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3456432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建议行动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28232" y="3758184"/>
            <a:ext cx="415137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联系Forwarder确认ETA；催报关文件；检查是否可部分出货；准备客户通知草稿。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重点用例3：客户订单波动智能分析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在客户、PN、版本层级发现异常需求变化，并连接物流/库存影响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订单量趋势与异常检测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5212080" cy="274320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834640"/>
            <a:ext cx="384048" cy="132588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2768346"/>
            <a:ext cx="384048" cy="1392174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2900934"/>
            <a:ext cx="384048" cy="1259586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2702052"/>
            <a:ext cx="384048" cy="1458468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2834640"/>
            <a:ext cx="384048" cy="132588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728570"/>
            <a:ext cx="384048" cy="1431950"/>
          </a:xfrm>
          <a:prstGeom prst="rect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2237994"/>
            <a:ext cx="384048" cy="1922526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1184" y="2171700"/>
            <a:ext cx="384048" cy="1988820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788920"/>
            <a:ext cx="438912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9659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 +38%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508760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627632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检测维度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02552" y="1929384"/>
            <a:ext cx="3877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 / 部品PN / 版本 / 周期 / 订单类型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537960" y="2624328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74320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关联影响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02552" y="3044952"/>
            <a:ext cx="3877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库存覆盖、在途Shipment、ETA、仓库可用量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537960" y="3739896"/>
            <a:ext cx="420624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85876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输出结果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02552" y="4160520"/>
            <a:ext cx="38770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异常原因、风险等级、建议补货/确认/沟通动作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920240" y="530352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5367528"/>
            <a:ext cx="8083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价值：从“订单变化”直接看到“交付风险与行动建议”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重点用例4：ASN / GR可控自动化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RPA/Webservice不是盲目执行，必须先通过准备度检查和证据包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85032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66944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48856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30768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12680" y="1920240"/>
            <a:ext cx="20116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触发事件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9152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准备度检查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41064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证据包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22976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4D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Planner批准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04888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RPA/Webservice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0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SAP更新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68712" y="160020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EAF7E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4432" y="18105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结果回写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440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准备度检查清单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60120" y="347472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353872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371600" y="352044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SAP订单存在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0" y="347472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353872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526280" y="352044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Shipment参考号确认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0120" y="388620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395020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371600" y="393192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Invoice / AWB / B/L匹配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0" y="388620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9664" y="395020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526280" y="393192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ETA可用且一致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60120" y="429768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" y="436168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371600" y="434340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仓库收货证据齐全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429768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9664" y="436168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526280" y="434340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数量匹配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60120" y="4709160"/>
            <a:ext cx="320040" cy="320040"/>
          </a:xfrm>
          <a:prstGeom prst="ellipse">
            <a:avLst/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4984" y="477316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371600" y="4754880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低置信度字段已复核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98080" y="3246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62672" y="3364992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输出给用户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62672" y="3666744"/>
            <a:ext cx="323697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ASN准备度：92%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阻塞原因：ETA文件冲突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建议：复核后批准ASN更新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1功能模块建议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先交付可用价值，同时为Phase 2/3 Agentic AI打基础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4475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M1 数据入口编排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74650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邮件监控、附件识别、网站/Portal采集、触发事件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44475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 文档智能处理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174650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分类、OCR/抽取、置信度、人工复核、标准化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144475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M3 Doris数据模型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48472" y="174650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订单、Shipment、文档、事件、异常、动作记录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9535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M4 异常智能规则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325526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运输预警、订单波动、库存/ETA监控、缺单检测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43484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9535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M5 Planner Workbench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9432" y="325526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今日行动队列、Shipment 360、文档Review、预警页面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183880" y="2834640"/>
            <a:ext cx="3337560" cy="1143000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2953512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M6 ASN/GR自动化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48472" y="3255264"/>
            <a:ext cx="30083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准备度检查、证据包、人工批准、RPA/Webservice执行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920240" y="580644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5870448"/>
            <a:ext cx="8083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重要：本方案暂不展开安全、计划、商务与非功能性内容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价值实现：钱花在哪里，价值回在哪里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客户需要的不是功能清单，而是可量化的运营改善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5544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99616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价值领域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34747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99616"/>
            <a:ext cx="3328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改善点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29400" y="1371600"/>
            <a:ext cx="42976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499616"/>
            <a:ext cx="4151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业务收益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1755648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847088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人工效率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0" y="1755648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847088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减少查邮件、下载附件、复制Excel、比对单据的时间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29400" y="1755648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1847088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Planner把时间用于异常处理和客户沟通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505456"/>
            <a:ext cx="15544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596896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数据质量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2505456"/>
            <a:ext cx="347472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2596896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减少漏单、重复、字段错误、文件找不到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29400" y="2505456"/>
            <a:ext cx="42976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259689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为预警、ASN/GR、AI问答提供可信数据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3255264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346704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提前预警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0" y="3255264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3346704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从延误发生后处理，变成影响发生前处理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9400" y="3255264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346704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降低客户交付风险，提高内部协同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005072"/>
            <a:ext cx="15544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4096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自动化可信度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4005072"/>
            <a:ext cx="347472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4096512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ASN/GR执行前有准备度检查和证据包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29400" y="4005072"/>
            <a:ext cx="4297680" cy="676656"/>
          </a:xfrm>
          <a:prstGeom prst="rect">
            <a:avLst/>
          </a:prstGeom>
          <a:solidFill>
            <a:srgbClr val="F7F9FB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4096512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降低错误执行风险，提高用户信任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4754880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4846320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管理洞察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0" y="4754880"/>
            <a:ext cx="3474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4846320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积累Forwarder、路线、文档质量、订单波动历史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4754880"/>
            <a:ext cx="42976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4846320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支持后续优化与Phase 2/3 AI扩展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未来扩展方向：从Phase 1走向Agentic 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1的正确设计会决定后续AI能不能落地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2971800"/>
            <a:ext cx="822960" cy="0"/>
          </a:xfrm>
          <a:prstGeom prst="line">
            <a:avLst/>
          </a:prstGeom>
          <a:noFill/>
          <a:ln w="1778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0840" y="2971800"/>
            <a:ext cx="822960" cy="0"/>
          </a:xfrm>
          <a:prstGeom prst="line">
            <a:avLst/>
          </a:prstGeom>
          <a:noFill/>
          <a:ln w="1778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CE7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536192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数据与执行基础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1837944"/>
            <a:ext cx="2459736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文档智能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Doris数据模型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异常预警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 Workbench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ASN/GR自动化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3E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536192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运营优化应用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07992" y="1837944"/>
            <a:ext cx="2459736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Truckload可视化与优化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仓库Bundling潜力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Forwarder绩效分析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 Mining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18120" y="141732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EAF7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1536192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AI扩展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82712" y="1837944"/>
            <a:ext cx="2459736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自主异常调查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多步骤行动建议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仿真与What-if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闭环学习与持续优化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5074920"/>
            <a:ext cx="996696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5193792"/>
            <a:ext cx="963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设计重点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1872" y="5495544"/>
            <a:ext cx="9637776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Phase 1必须保留事件、证据、关系、决策和人工修正记录；这些就是未来Agentic AI的训练与推理资产。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655624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Hikari AI物流智能执行平台｜方案草案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6001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60012">
              <a:alpha val="85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为什么这个方案更容易赢？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8424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解决真实用户问题：每天要处理什么、为什么、怎么做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51460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57860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508760" y="2560320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把OCR/RPA/Dashboard升级为智能运营与执行平台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10896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17296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508760" y="3154680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保留Phase 1可交付范围，同时建立Phase 2/3 AI基础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370332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76732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508760" y="3749040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每个AI建议都带证据、置信度和人工控制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297680"/>
            <a:ext cx="320040" cy="320040"/>
          </a:xfrm>
          <a:prstGeom prst="ellipse">
            <a:avLst/>
          </a:prstGeom>
          <a:solidFill>
            <a:srgbClr val="E60012">
              <a:alpha val="92000"/>
            </a:srgbClr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361688"/>
            <a:ext cx="210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508760" y="4343400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价值清晰：效率、质量、提前预警、自动化可信度、管理洞察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5650992"/>
            <a:ext cx="9966960" cy="393192"/>
          </a:xfrm>
          <a:prstGeom prst="roundRect">
            <a:avLst>
              <a:gd name="adj" fmla="val 18605"/>
            </a:avLst>
          </a:prstGeom>
          <a:solidFill>
            <a:srgbClr val="E60012"/>
          </a:solidFill>
          <a:ln w="12700">
            <a:solidFill>
              <a:srgbClr val="E6001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5715000"/>
            <a:ext cx="9820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可信数据 + 业务上下文 + 风险智能 + 推荐行动 + 可控自动化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C8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End of proposal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Hikari AI物流智能执行平台方案</dc:title>
  <dc:subject>Hikari AI Logistics Intelligence Proposal</dc:subject>
  <dc:creator>OpenAI</dc:creator>
  <cp:lastModifiedBy>OpenAI</cp:lastModifiedBy>
  <cp:revision>1</cp:revision>
  <dcterms:created xsi:type="dcterms:W3CDTF">2026-05-24T07:45:28Z</dcterms:created>
  <dcterms:modified xsi:type="dcterms:W3CDTF">2026-05-24T07:45:28Z</dcterms:modified>
</cp:coreProperties>
</file>