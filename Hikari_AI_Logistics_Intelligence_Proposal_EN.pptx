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7548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HIKARI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 Order-to-Delivery Intelligence &amp; Execution Platform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7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fragmented logistics documents and process data into explainable, actionable and scalable operations intelligence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310128"/>
            <a:ext cx="36941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Draft | Functional &amp; Business Value Focus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89120" y="4846320"/>
            <a:ext cx="731520" cy="0"/>
          </a:xfrm>
          <a:prstGeom prst="line">
            <a:avLst/>
          </a:prstGeom>
          <a:noFill/>
          <a:ln w="15240">
            <a:solidFill>
              <a:srgbClr val="AAB4C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4846320"/>
            <a:ext cx="731520" cy="0"/>
          </a:xfrm>
          <a:prstGeom prst="line">
            <a:avLst/>
          </a:prstGeom>
          <a:noFill/>
          <a:ln w="15240">
            <a:solidFill>
              <a:srgbClr val="AAB4C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0" y="4846320"/>
            <a:ext cx="731520" cy="0"/>
          </a:xfrm>
          <a:prstGeom prst="line">
            <a:avLst/>
          </a:prstGeom>
          <a:noFill/>
          <a:ln w="15240">
            <a:solidFill>
              <a:srgbClr val="AAB4C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78240" y="4846320"/>
            <a:ext cx="731520" cy="0"/>
          </a:xfrm>
          <a:prstGeom prst="line">
            <a:avLst/>
          </a:prstGeom>
          <a:noFill/>
          <a:ln w="15240">
            <a:solidFill>
              <a:srgbClr val="AAB4C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03320" y="4572000"/>
            <a:ext cx="731520" cy="7315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5394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66360" y="4572000"/>
            <a:ext cx="731520" cy="7315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5394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4572000"/>
            <a:ext cx="731520" cy="7315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5394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92440" y="4572000"/>
            <a:ext cx="731520" cy="7315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5394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55480" y="457200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5394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626364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Hikari Dev Phase 1 Requirement •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of the requirement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is not only data collection; it is the foundation for future AI logistics intelligence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44752"/>
            <a:ext cx="18196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746504"/>
            <a:ext cx="1819656" cy="3008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JOEM order → SAP order → overseas shipment → sea/air freight → Japan warehouse receiving → customer delivery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090672" y="132588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1444752"/>
            <a:ext cx="18196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5264" y="1746504"/>
            <a:ext cx="1819656" cy="3008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Non-SAP data collection, RPA/application automation, visualization and alerts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541264" y="132588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05856" y="1444752"/>
            <a:ext cx="18196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direction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05856" y="1746504"/>
            <a:ext cx="1819656" cy="3008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phases define Agentic AI and additional applications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991856" y="132588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444752"/>
            <a:ext cx="18196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enhancement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56448" y="1746504"/>
            <a:ext cx="1819656" cy="3008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 AI-ready foundation now: document intelligence, logistics digital twin, exception intelligence and planner copilot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321808"/>
            <a:ext cx="9784080" cy="5029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judgement: OCR, RPA and charts alone create limited value. Building business relationships, evidence chains and action logic makes future AI genuinely usable.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positioning: not another dashboard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 from seeing data to understanding risk, recommending action and supporting execution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572000" cy="420624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F63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Ordinary approach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30428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353312" y="2276856"/>
            <a:ext cx="347472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fields with OCR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80720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353312" y="2779776"/>
            <a:ext cx="347472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results in a 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31012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353312" y="3282696"/>
            <a:ext cx="347472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transport dashboards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81304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353312" y="3785616"/>
            <a:ext cx="347472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red/yellow/green alerts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31596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353312" y="4288536"/>
            <a:ext cx="347472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RPA updates SAP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141732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FCE7E7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6916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00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proposal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766560" y="224028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230428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205472" y="2276856"/>
            <a:ext cx="384048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 document intelligence engine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766560" y="274320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280720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205472" y="2779776"/>
            <a:ext cx="384048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Order-shipment-warehouse-customer digital twin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766560" y="324612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331012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205472" y="3282696"/>
            <a:ext cx="384048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priority and business impact analysis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766560" y="374904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381304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7205472" y="3785616"/>
            <a:ext cx="384048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explains root cause and recommends actions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766560" y="425196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431596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205472" y="4288536"/>
            <a:ext cx="3840480" cy="2011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Planner-approved ASN/GR execution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5440680" y="3447288"/>
            <a:ext cx="822960" cy="0"/>
          </a:xfrm>
          <a:prstGeom prst="line">
            <a:avLst/>
          </a:prstGeom>
          <a:noFill/>
          <a:ln w="3048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429000" y="5897880"/>
            <a:ext cx="5212080" cy="36576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2152" y="5961888"/>
            <a:ext cx="50657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value: action system, not reporting system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operating concept: Order-to-Delivery Intelligence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orders, logistics documents, ETA, inventory, warehouse and execution actions into one explainable business chain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0332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4924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9516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4108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28700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EAF2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313432"/>
            <a:ext cx="1307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Order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28600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2313432"/>
            <a:ext cx="1307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Order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93192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2313432"/>
            <a:ext cx="1307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Overseas Plant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57784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2704" y="2313432"/>
            <a:ext cx="1307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 / Air Freight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22376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2313432"/>
            <a:ext cx="1307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Japan Customs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86968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24544" y="2313432"/>
            <a:ext cx="1307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GR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51560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70464" y="2313432"/>
            <a:ext cx="1307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Delivery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279392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evidence 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4581144"/>
            <a:ext cx="2048256" cy="493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invoice, AWB/B/L, tracking list, customs, truck/warehouse docs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611880" y="4160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279392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4581144"/>
            <a:ext cx="2048256" cy="493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customer, part, order, shipment and inventory relationships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400800" y="4160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4279392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intelligence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65392" y="4581144"/>
            <a:ext cx="2048256" cy="493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delay, missing document, mismatch and stock coverage risk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189720" y="4160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54312" y="4279392"/>
            <a:ext cx="20482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actions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54312" y="4581144"/>
            <a:ext cx="2048256" cy="493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 update, GR posting and customer order capture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68680" y="5532120"/>
            <a:ext cx="10515600" cy="3200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every AI conclusion must be traceable to data, documents and business relationships.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Whole solution blueprint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Five-layer intelligence architecture: capture, understand, connect, decide and act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3520440"/>
            <a:ext cx="246888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97680" y="3520440"/>
            <a:ext cx="292608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46520" y="3520440"/>
            <a:ext cx="246888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03920" y="3520440"/>
            <a:ext cx="292608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1645920" cy="4297680"/>
          </a:xfrm>
          <a:prstGeom prst="roundRect">
            <a:avLst>
              <a:gd name="adj" fmla="val 5556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536192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Data inputs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758952" y="1837944"/>
            <a:ext cx="1316736" cy="3785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/ Excel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portals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Forwarder portals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sync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1417320"/>
            <a:ext cx="1737360" cy="4297680"/>
          </a:xfrm>
          <a:prstGeom prst="roundRect">
            <a:avLst>
              <a:gd name="adj" fmla="val 5263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536192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Document AI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2724912" y="1837944"/>
            <a:ext cx="1408176" cy="3785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Field/table extraction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scoring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checks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1783080" cy="4297680"/>
          </a:xfrm>
          <a:prstGeom prst="roundRect">
            <a:avLst>
              <a:gd name="adj" fmla="val 5128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536192"/>
            <a:ext cx="1453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Context layer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828032" y="1837944"/>
            <a:ext cx="1453896" cy="3785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Order-shipment-warehouse digital twin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chain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Playbooks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737360" cy="4297680"/>
          </a:xfrm>
          <a:prstGeom prst="roundRect">
            <a:avLst>
              <a:gd name="adj" fmla="val 5263"/>
            </a:avLst>
          </a:prstGeom>
          <a:solidFill>
            <a:srgbClr val="FFF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536192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AI agents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6931152" y="1837944"/>
            <a:ext cx="1408176" cy="3785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 risk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coverage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fluctuation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ASN/GR readiness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drafts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869680" y="1417320"/>
            <a:ext cx="2240280" cy="4297680"/>
          </a:xfrm>
          <a:prstGeom prst="roundRect">
            <a:avLst>
              <a:gd name="adj" fmla="val 4082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1536192"/>
            <a:ext cx="19110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Workbench &amp; execution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034272" y="1837944"/>
            <a:ext cx="1911096" cy="3785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action queue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 360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review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RPA / webservice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34440" y="5989320"/>
            <a:ext cx="9692640" cy="329184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7592" y="6053328"/>
            <a:ext cx="95463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trusted data + business context + risk explanation + recommended action + controlled automation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process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node from customer order to delivery generates data, documents, events and risk signals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09270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7276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process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10927080" cy="95097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1576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/ documents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109270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5876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handling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4663440"/>
            <a:ext cx="10927080" cy="95097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0176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outcome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296" y="1581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JOEM order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9184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5760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1581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order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1772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8348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1581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4360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936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1581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Freight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26948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71816" y="1581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59536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6112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97696" y="1581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92124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28700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23576" y="1581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33172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68296" y="2724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65760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4176" y="2724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AWB / B/L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98348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0056" y="2724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630936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2724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Customs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763524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71816" y="2724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Truck Doc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896112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97696" y="2724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 Doc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028700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23576" y="2724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Doc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233172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68296" y="3867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365760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94176" y="3867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98348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0056" y="3867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630936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3867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763524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1816" y="3867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96112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97696" y="3867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1028700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323576" y="3867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233172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68296" y="5010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data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65760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94176" y="5010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98348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0056" y="5010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case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30936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45936" y="5010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queue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63524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71816" y="5010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96112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97696" y="5010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028700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323576" y="5010912"/>
            <a:ext cx="88696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60120" y="5897880"/>
            <a:ext cx="10149840" cy="2743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point: the flow is not a static map; it continuously creates events, evidence, risks and tasks.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78" name="Text 7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technical architecture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the requested technology direction while adding an AI-ready context and agent layer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1627632"/>
            <a:ext cx="731520" cy="70408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57400" y="2020824"/>
            <a:ext cx="731520" cy="310896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2331720"/>
            <a:ext cx="731520" cy="82296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57400" y="2331720"/>
            <a:ext cx="731520" cy="47548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2331720"/>
            <a:ext cx="731520" cy="86868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2331720"/>
            <a:ext cx="77724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2331720"/>
            <a:ext cx="77724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2331720"/>
            <a:ext cx="77724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195560" y="3063240"/>
            <a:ext cx="0" cy="85039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4315968"/>
            <a:ext cx="1280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" y="1261872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1380744"/>
            <a:ext cx="12252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8952" y="1682496"/>
            <a:ext cx="1225296" cy="22311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/ Excel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Cargonavi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/ Portal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788920" y="141732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3512" y="1536192"/>
            <a:ext cx="9052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n8n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53512" y="1837944"/>
            <a:ext cx="905256" cy="13167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orchestration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/ route / retry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00600" y="132588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444752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65192" y="1746504"/>
            <a:ext cx="1088136" cy="1499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field/table extraction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995160" y="132588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FFF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1444752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Doris Data Layer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59752" y="1746504"/>
            <a:ext cx="1088136" cy="1499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data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facts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model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189720" y="10972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1216152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ContextForge / Business Context Layer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354312" y="1517904"/>
            <a:ext cx="1591056" cy="1773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order-shipment-warehouse graph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chain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playbooks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823960" y="3950208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88552" y="4069080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Layer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88552" y="4370832"/>
            <a:ext cx="241401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| Reconciliation | ETA | Inventory | Order Anomaly | ASN/GR | Communication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5440680" y="38862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5272" y="4005072"/>
            <a:ext cx="23682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Workbench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05272" y="4306824"/>
            <a:ext cx="2368296" cy="768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queue | Shipment 360 | Document review | Approval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2514600" y="388620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FF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9192" y="4005072"/>
            <a:ext cx="1773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Interface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79192" y="4306824"/>
            <a:ext cx="1773936" cy="768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RPA / webservice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ASN update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GR posting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intelligence: from attachments to trusted data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unstructured PDF/Excel/email into traceable, reviewable and automation-ready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033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035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037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1041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38528"/>
            <a:ext cx="12893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channels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22860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1938528"/>
            <a:ext cx="12893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document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38862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1938528"/>
            <a:ext cx="12893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fields &amp; tables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54864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1938528"/>
            <a:ext cx="12893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score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0866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938528"/>
            <a:ext cx="12893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86868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0808" y="1938528"/>
            <a:ext cx="12893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&amp; deduplicate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102870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51008" y="1938528"/>
            <a:ext cx="128930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&amp; archive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731520" y="29718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Supported document families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8680" y="342900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520440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invoice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66160" y="342900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520440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AWB / B/L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63640" y="342900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520440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list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61120" y="342900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3520440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declaration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8680" y="3995928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087368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Truck document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66160" y="3995928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4087368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GR doc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63640" y="3995928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4087368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delivery doc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909560" y="4800600"/>
            <a:ext cx="3337560" cy="777240"/>
          </a:xfrm>
          <a:prstGeom prst="roundRect">
            <a:avLst>
              <a:gd name="adj" fmla="val 11765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74152" y="4919472"/>
            <a:ext cx="30083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enhancement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74152" y="5221224"/>
            <a:ext cx="3008376" cy="2651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field links back to source document, page, confidence and correction history.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Logistics digital twin / business context model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AI needs the relationship among orders, parts, shipments, warehouses and documents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91640" y="1764792"/>
            <a:ext cx="164592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1764792"/>
            <a:ext cx="169164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0" y="1764792"/>
            <a:ext cx="1600200" cy="116128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0" y="1764792"/>
            <a:ext cx="182880" cy="265176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926080"/>
            <a:ext cx="1325880" cy="1490472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2907792"/>
            <a:ext cx="2880360" cy="1828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235440" y="1772920"/>
            <a:ext cx="91440" cy="115316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26080"/>
            <a:ext cx="2743200" cy="2249424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55280" y="4416552"/>
            <a:ext cx="1417320" cy="758952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4416552"/>
            <a:ext cx="4160520" cy="758952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150876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1691640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2651760" y="150876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1691640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Order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4343400" y="150876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1691640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Order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5943600" y="2670048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E600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2852928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4526280" y="416052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4343400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7269480" y="416052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4343400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Stock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8823960" y="265176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7112" y="2834640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Forwarder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8641080" y="123444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5F63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4232" y="1417320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Evidence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8686800" y="4919472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E600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9952" y="5102352"/>
            <a:ext cx="1271016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Case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731520" y="50749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193792"/>
            <a:ext cx="33284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6112" y="5495544"/>
            <a:ext cx="3328416" cy="2651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ask: which customer is affected, which document is missing, can ASN/GR proceed, and what is the risk reason?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agent design: practical, not science fiction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agent has clear inputs, logic, outputs and human-control points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8840" y="1709928"/>
            <a:ext cx="64008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97680" y="1709928"/>
            <a:ext cx="64008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46520" y="1709928"/>
            <a:ext cx="64008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95360" y="1709928"/>
            <a:ext cx="64008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1710055"/>
            <a:ext cx="4486275" cy="224663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03320" y="2176145"/>
            <a:ext cx="287655" cy="178943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2176272"/>
            <a:ext cx="640080" cy="170992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417320"/>
            <a:ext cx="15453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Intake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6112" y="1719072"/>
            <a:ext cx="154533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classify, extract, score and route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288036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1417320"/>
            <a:ext cx="15453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Reconciliation Agent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4952" y="1719072"/>
            <a:ext cx="154533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quantity/date/reference across documents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502920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417320"/>
            <a:ext cx="15453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 Risk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93792" y="1719072"/>
            <a:ext cx="154533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delay and customer impact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17804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632" y="1417320"/>
            <a:ext cx="15453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Coverage Agent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42632" y="1719072"/>
            <a:ext cx="154533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ETA, stock and demand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932688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91472" y="1417320"/>
            <a:ext cx="15453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Fluctuation Agent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91472" y="1719072"/>
            <a:ext cx="154533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customer/PN/version anomalies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2743200" y="397764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4096512"/>
            <a:ext cx="15453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ASN/GR Execution Agent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07792" y="4398264"/>
            <a:ext cx="154533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readiness and prepare evidence pack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537960" y="397764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EEF2F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4096512"/>
            <a:ext cx="15453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Agent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02552" y="4398264"/>
            <a:ext cx="154533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forwarder/warehouse/customer messages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3154680" y="5715000"/>
            <a:ext cx="5852160" cy="347472"/>
          </a:xfrm>
          <a:prstGeom prst="roundRect">
            <a:avLst>
              <a:gd name="adj" fmla="val 21053"/>
            </a:avLst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27832" y="5779008"/>
            <a:ext cx="5705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execution actions pass readiness checks and human approval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Exception &amp; risk intelligence engine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 alerts into impact prioritization, root-cause explanation and recommended action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10332720" cy="685800"/>
          </a:xfrm>
          <a:prstGeom prst="roundRect">
            <a:avLst>
              <a:gd name="adj" fmla="val 13333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444752"/>
            <a:ext cx="100035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scoring logic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78992" y="1746504"/>
            <a:ext cx="10003536" cy="1737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severity = ETA delay + stock coverage + document readiness + quantity match + customer priority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3347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 delay risk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987552" y="2935224"/>
            <a:ext cx="291693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 changes, milestone exceptions and historical delay pattern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4572000" y="2514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63347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documents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736592" y="2935224"/>
            <a:ext cx="291693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invoice, transport, customs or warehouse evidence not received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8321040" y="2514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63347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 / field mismatch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8485632" y="2935224"/>
            <a:ext cx="291693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order, invoice, shipment and warehouse receipt mismatch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77647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ASN/GR blocking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87552" y="4078224"/>
            <a:ext cx="291693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fields or evidence incomplete for safe execution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77647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order fluctuation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4736592" y="4078224"/>
            <a:ext cx="291693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customer/PN/version demand spike or drop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8321040" y="3657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377647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coverage risk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8485632" y="4078224"/>
            <a:ext cx="291693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days become insufficient after delay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Planner Workbench: daily action center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first see what needs action today, not a pile of charts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698480" cy="4983480"/>
          </a:xfrm>
          <a:prstGeom prst="roundRect">
            <a:avLst>
              <a:gd name="adj" fmla="val 1468"/>
            </a:avLst>
          </a:prstGeom>
          <a:solidFill>
            <a:srgbClr val="FAFB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813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Logistics Action Center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66760" y="1444752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1508760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 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509760" y="14447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82912" y="1508760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011680" y="201168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657600" y="2011680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880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recommended action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9418320" y="201168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4400" y="2240280"/>
            <a:ext cx="98298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37744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2011680" y="2377440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 delay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3657600" y="237744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 +3 days, stock only 4 days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6126480" y="2377440"/>
            <a:ext cx="28803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forwarder, check partial shipment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9418320" y="2377440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914400" y="2926080"/>
            <a:ext cx="982980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06324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011680" y="3063240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 blocked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3657600" y="306324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receipt missing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6126480" y="3063240"/>
            <a:ext cx="28803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warehouse evidence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9418320" y="3063240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914400" y="3611880"/>
            <a:ext cx="98298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4904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2011680" y="3749040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 pending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3657600" y="374904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Conflicting ETA values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6126480" y="3749040"/>
            <a:ext cx="28803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approve ASN update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9418320" y="3749040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914400" y="4297680"/>
            <a:ext cx="982980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443484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2011680" y="4434840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anomaly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3657600" y="443484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 PN-200 +38%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6126480" y="4434840"/>
            <a:ext cx="28803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stock and next inbound shipment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9418320" y="4434840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1005840" y="525780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0432" y="5376672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 360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" y="5678424"/>
            <a:ext cx="259689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order, docs, ETA, stock and risk evidence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4251960" y="525780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5376672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Review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16552" y="5678424"/>
            <a:ext cx="259689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confirmation for low-confidence fields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498080" y="525780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62672" y="5376672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Execution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62672" y="5678424"/>
            <a:ext cx="259689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controls ASN / GR / notification actions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use case 1: intelligent non-SAP data collection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Covers invoices, AWB/B/L, tracking lists, customs, truck and warehouse documents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663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665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3667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669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71907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Email/Portal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23317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71907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PDF/Excel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39319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71907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&amp; extract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5321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71907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1323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71907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 archive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87325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171907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Doris upload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103327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71907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Exception/task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914400" y="29718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090672"/>
            <a:ext cx="27797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3392424"/>
            <a:ext cx="2779776" cy="8138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fragmented email attachments into clean, unified and traceable data assets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090672"/>
            <a:ext cx="27797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control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3392424"/>
            <a:ext cx="2779776" cy="8138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confidence, human review, duplicate detection and cross-document matching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412480" y="29718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7072" y="3090672"/>
            <a:ext cx="27797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77072" y="3392424"/>
            <a:ext cx="2779776" cy="8138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manual entry and missing/wrong data; feeds trusted data to alerts and automation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2011680" y="5349240"/>
            <a:ext cx="813816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84832" y="5413248"/>
            <a:ext cx="7991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focus: reviewable, traceable and learnable — not one-off OCR scripts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use case 2: ETA, inventory and customer impact risk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only report shipment delay; explain which customer, part and order will be affected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63624"/>
            <a:ext cx="16002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 change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2505456" y="1536192"/>
            <a:ext cx="16459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141732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563624"/>
            <a:ext cx="16002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milestone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608576" y="1536192"/>
            <a:ext cx="16459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563624"/>
            <a:ext cx="16002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Customs status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31520" y="219456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340864"/>
            <a:ext cx="16002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coverage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505456" y="2313432"/>
            <a:ext cx="16459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34640" y="219456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340864"/>
            <a:ext cx="16002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demand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608576" y="2313432"/>
            <a:ext cx="164592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219456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40864"/>
            <a:ext cx="16002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priority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629400" y="1828800"/>
            <a:ext cx="960120" cy="0"/>
          </a:xfrm>
          <a:prstGeom prst="line">
            <a:avLst/>
          </a:prstGeom>
          <a:noFill/>
          <a:ln w="1905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35240" y="137160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9832" y="1490472"/>
            <a:ext cx="32826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score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99832" y="1792224"/>
            <a:ext cx="3282696" cy="6766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risk level, root cause, customer impact and recommended action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22960" y="3337560"/>
            <a:ext cx="4983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456432"/>
            <a:ext cx="46542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3758184"/>
            <a:ext cx="4654296" cy="9052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 HIK-SEA-001 is high risk: ETA delayed by 3 days, customs document missing, PN-A123 has only 4 days stock coverage, likely impacting Customer A delivery next week.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263640" y="333756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3456432"/>
            <a:ext cx="41513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28232" y="3758184"/>
            <a:ext cx="4151376" cy="9052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forwarder for ETA confirmation; chase customs evidence; check partial shipment; draft customer notice.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1150"/>
            <a:ext cx="10033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use case 3: customer order fluctuation intelligence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abnormal demand changes at customer, PN and version levels, then link to logistics and stock impact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trend and anomaly detection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5212080" cy="274320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834640"/>
            <a:ext cx="384048" cy="1325880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2768346"/>
            <a:ext cx="384048" cy="1392174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9424" y="2900934"/>
            <a:ext cx="384048" cy="1259586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9776" y="2702052"/>
            <a:ext cx="384048" cy="1458468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2834640"/>
            <a:ext cx="384048" cy="1325880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728570"/>
            <a:ext cx="384048" cy="1431950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2237994"/>
            <a:ext cx="384048" cy="1922526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01184" y="2171700"/>
            <a:ext cx="384048" cy="198882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2788920"/>
            <a:ext cx="438912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96596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+38%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508760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627632"/>
            <a:ext cx="3877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dimensions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02552" y="1929384"/>
            <a:ext cx="387705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part number / version / period / order type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537960" y="2624328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2743200"/>
            <a:ext cx="3877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 impact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02552" y="3044952"/>
            <a:ext cx="387705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coverage, inbound shipment, ETA and warehouse availability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537960" y="3739896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858768"/>
            <a:ext cx="3877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02552" y="4160520"/>
            <a:ext cx="387705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reason, risk level and suggested replenishment / confirmation / communication actions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920240" y="530352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5367528"/>
            <a:ext cx="80832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translate order changes directly into delivery risk and action advice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1150"/>
            <a:ext cx="971486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use case 4: controlled ASN / GR automation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RPA/webservice should not execute blindly; it must pass readiness checks and evidence packaging first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85032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66944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48856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430768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12680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10512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event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2359152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810512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check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3941064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1810512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pack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5522976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4D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1810512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approval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104888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810512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RPA / webservice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686800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1810512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update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10268712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14432" y="1810512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writeback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914400" y="306324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Readiness checklist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60120" y="347472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" y="353872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371600" y="3520440"/>
            <a:ext cx="2651760" cy="1463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order exists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0" y="347472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9664" y="353872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526280" y="3520440"/>
            <a:ext cx="2651760" cy="1463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 reference confirmed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60120" y="388620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" y="395020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371600" y="3931920"/>
            <a:ext cx="2651760" cy="1463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/ AWB / B/L matched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0" y="388620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9664" y="395020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526280" y="3931920"/>
            <a:ext cx="2651760" cy="1463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 available and consistent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60120" y="429768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984" y="436168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371600" y="4343400"/>
            <a:ext cx="2651760" cy="1463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receiving evidence ready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0" y="429768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9664" y="436168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526280" y="4343400"/>
            <a:ext cx="2651760" cy="1463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 matched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60120" y="470916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4984" y="477316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371600" y="4754880"/>
            <a:ext cx="2651760" cy="1463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Low-confidence fields reviewed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498080" y="32461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62672" y="3364992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User-facing output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662672" y="3666744"/>
            <a:ext cx="3236976" cy="10424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 readiness: 92%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Blocker: conflicting ETA evidence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Advice: review then approve ASN update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Phase 1 functional modules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usable value first while preparing the foundation for Phase 2/3 Agentic AI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44752"/>
            <a:ext cx="30083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 Data intake orchestration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746504"/>
            <a:ext cx="300837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monitoring, attachment detection, website/portal collection and event trigger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444752"/>
            <a:ext cx="30083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 Document 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1746504"/>
            <a:ext cx="300837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classification, OCR/extraction, confidence, human review and normalization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444752"/>
            <a:ext cx="30083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 Doris data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8472" y="1746504"/>
            <a:ext cx="300837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orders, shipments, documents, events, exceptions and action records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953512"/>
            <a:ext cx="30083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 Exception intelligence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" y="3255264"/>
            <a:ext cx="300837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alert, order anomaly, stock/ETA monitoring and missing document detection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434840" y="28346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953512"/>
            <a:ext cx="30083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 Planner Workbench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99432" y="3255264"/>
            <a:ext cx="300837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action queue, Shipment 360, document review and alert pages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183880" y="28346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8472" y="2953512"/>
            <a:ext cx="30083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 ASN/GR automation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48472" y="3255264"/>
            <a:ext cx="300837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check, evidence pack, human approval and RPA/webservice execution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1920240" y="580644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5870448"/>
            <a:ext cx="80832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security, schedule, commercial and non-functional topics are intentionally excluded here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realization: where the money creates value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need operational improvement, not only a feature list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5544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99616"/>
            <a:ext cx="1408176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area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34747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499616"/>
            <a:ext cx="3328416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29400" y="1371600"/>
            <a:ext cx="4297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1499616"/>
            <a:ext cx="4151376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benefit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755648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847088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productivity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2743200" y="1755648"/>
            <a:ext cx="3474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847088"/>
            <a:ext cx="332841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time spent checking email, downloading attachments, copying Excel and comparing documents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629400" y="1755648"/>
            <a:ext cx="42976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1847088"/>
            <a:ext cx="41513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Planners focus on exceptions and customer communication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731520" y="2505456"/>
            <a:ext cx="155448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596896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2743200" y="2505456"/>
            <a:ext cx="347472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596896"/>
            <a:ext cx="332841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missing, duplicate, incorrect and hard-to-find data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629400" y="2505456"/>
            <a:ext cx="429768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2596896"/>
            <a:ext cx="41513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input for alerts, ASN/GR and AI answers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731520" y="3255264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346704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warning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2743200" y="3255264"/>
            <a:ext cx="3474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3346704"/>
            <a:ext cx="332841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post-delay reaction to pre-impact action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6629400" y="3255264"/>
            <a:ext cx="42976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3346704"/>
            <a:ext cx="41513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customer delivery risk and improve coordination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731520" y="4005072"/>
            <a:ext cx="155448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096512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trust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2743200" y="4005072"/>
            <a:ext cx="347472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4096512"/>
            <a:ext cx="332841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check and evidence pack before ASN/GR execution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6629400" y="4005072"/>
            <a:ext cx="429768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2552" y="4096512"/>
            <a:ext cx="41513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wrong execution risk and increase user confidence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731520" y="4754880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846320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insight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2743200" y="4754880"/>
            <a:ext cx="3474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4846320"/>
            <a:ext cx="332841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history of forwarders, routes, document quality and order behavior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629400" y="4754880"/>
            <a:ext cx="42976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2552" y="4846320"/>
            <a:ext cx="415137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optimization and Phase 2/3 AI expansion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expansion: from Phase 1 to Agentic 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Phase 1 design determines whether future AI can be implemented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2971800"/>
            <a:ext cx="822960" cy="0"/>
          </a:xfrm>
          <a:prstGeom prst="line">
            <a:avLst/>
          </a:prstGeom>
          <a:noFill/>
          <a:ln w="1778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20840" y="2971800"/>
            <a:ext cx="822960" cy="0"/>
          </a:xfrm>
          <a:prstGeom prst="line">
            <a:avLst/>
          </a:prstGeom>
          <a:noFill/>
          <a:ln w="1778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141732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536192"/>
            <a:ext cx="2459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execution foundation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1837944"/>
            <a:ext cx="2459736" cy="2642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intelligence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Doris data 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alerts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Workbench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ASN/GR automation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536192"/>
            <a:ext cx="2459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optimization apps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1837944"/>
            <a:ext cx="2459736" cy="2642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Truckload visualization &amp; optimization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bundling potential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Forwarder performance analytics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mining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18120" y="141732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1536192"/>
            <a:ext cx="2459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expansion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82712" y="1837944"/>
            <a:ext cx="2459736" cy="2642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exception investigation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Multi-step action recommendation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and what-if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Closed-loop learning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5074920"/>
            <a:ext cx="996696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5193792"/>
            <a:ext cx="96377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implication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1872" y="5495544"/>
            <a:ext cx="9637776" cy="1737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must preserve events, evidence, relationships, decisions and human corrections; these become the reasoning assets for future Agentic AI.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 AI Logistics Intelligence &amp; Execution Platform | Proposal Draft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600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proposal can win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98424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868680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Solves the real user problem: what needs action today, why and what to 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05840" y="251460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57860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508760" y="2560320"/>
            <a:ext cx="868680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Upgrades OCR/RPA/dashboard into an intelligence and execution platform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5840" y="310896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7296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508760" y="3154680"/>
            <a:ext cx="868680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Phase 1 deliverable while building the Phase 2/3 AI foundation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5840" y="370332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76732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508760" y="3749040"/>
            <a:ext cx="868680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AI recommendation carries evidence, confidence and human control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05840" y="429768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361688"/>
            <a:ext cx="210312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508760" y="4343400"/>
            <a:ext cx="868680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value: productivity, data quality, early warning, automation trust and management insight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51560" y="5650992"/>
            <a:ext cx="9966960" cy="393192"/>
          </a:xfrm>
          <a:prstGeom prst="roundRect">
            <a:avLst>
              <a:gd name="adj" fmla="val 18605"/>
            </a:avLst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5715000"/>
            <a:ext cx="9820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data + business context + risk intelligence + recommended action + controlled automation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63550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proposal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13343</Words>
  <Application>WPS Presentation</Application>
  <PresentationFormat>On-screen Show (16:9)</PresentationFormat>
  <Paragraphs>841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Aptos</vt:lpstr>
      <vt:lpstr>Aptos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Hikari AI Logistics Intelligence &amp; Execution Platform</dc:title>
  <dc:creator>OpenAI</dc:creator>
  <dc:subject>Hikari AI Logistics Intelligence Proposal</dc:subject>
  <cp:lastModifiedBy>We Kwang Yap</cp:lastModifiedBy>
  <cp:revision>2</cp:revision>
  <dcterms:created xsi:type="dcterms:W3CDTF">2026-05-24T07:45:00Z</dcterms:created>
  <dcterms:modified xsi:type="dcterms:W3CDTF">2026-05-24T08:26:10Z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7C4E628CACB34E7783438692BCD7D9A4_12</vt:lpwstr>
  </property>
  <property fmtid="{D5CDD505-2E9C-101B-9397-08002B2CF9AE}" pid="3" name="KSOProductBuildVer">
    <vt:lpwstr>1033-12.1.0.26372</vt:lpwstr>
  </property>
</Properties>
</file>